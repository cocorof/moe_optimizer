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1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14"/>
    <p:sldId id="263" r:id="rId13"/>
    <p:sldId id="264" r:id="rId12"/>
    <p:sldId id="265" r:id="rId11"/>
    <p:sldId id="266" r:id="rId10"/>
    <p:sldId id="267" r:id="rId9"/>
    <p:sldId id="268" r:id="rId8"/>
    <p:sldId id="269" r:id="rId7"/>
    <p:sldId id="270" r:id="rId6"/>
    <p:sldId id="271" r:id="rId5"/>
    <p:sldId id="272" r:id="rId4"/>
    <p:sldId id="273" r:id="rId3"/>
    <p:sldId id="274" r:id="rId2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</p:sldIdLst>
  <p:sldSz cx="12192000" cy="6858000"/>
  <p:notesSz cx="6797675" cy="9926638"/>
  <p:embeddedFontLst>
    <p:embeddedFont>
      <p:font typeface="Barlow Semi Condensed Medium" panose="00000606000000000000" pitchFamily="2" charset="0"/>
      <p:regular r:id="rId22"/>
      <p:italic r:id="rId23"/>
    </p:embeddedFont>
    <p:embeddedFont>
      <p:font typeface="Fjalla One" panose="02000506040000020004" pitchFamily="2" charset="0"/>
      <p:regular r:id="rId24"/>
    </p:embeddedFont>
    <p:embeddedFont>
      <p:font typeface="나눔스퀘어" panose="020B0600000101010101" pitchFamily="50" charset="-127"/>
      <p:regular r:id="rId25"/>
    </p:embeddedFont>
    <p:embeddedFont>
      <p:font typeface="나눔스퀘어 Bold" panose="020B0600000101010101" pitchFamily="50" charset="-127"/>
      <p:bold r:id="rId26"/>
    </p:embeddedFont>
    <p:embeddedFont>
      <p:font typeface="나눔스퀘어 ExtraBold" panose="020B0600000101010101" pitchFamily="50" charset="-127"/>
      <p:bold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000000"/>
    <a:srgbClr val="7F7F7F"/>
    <a:srgbClr val="490907"/>
    <a:srgbClr val="CCD2D8"/>
    <a:srgbClr val="FFFFFF"/>
    <a:srgbClr val="313131"/>
    <a:srgbClr val="2D2D2D"/>
    <a:srgbClr val="6D6D6D"/>
    <a:srgbClr val="7E7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9" autoAdjust="0"/>
    <p:restoredTop sz="89536" autoAdjust="0"/>
  </p:normalViewPr>
  <p:slideViewPr>
    <p:cSldViewPr snapToGrid="0">
      <p:cViewPr varScale="1">
        <p:scale>
          <a:sx n="116" d="100"/>
          <a:sy n="116" d="100"/>
        </p:scale>
        <p:origin x="194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16" d="100"/>
          <a:sy n="116" d="100"/>
        </p:scale>
        <p:origin x="515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slide" Target="slides/slide10.xml"/><Relationship Id="rId12" Type="http://schemas.openxmlformats.org/officeDocument/2006/relationships/slide" Target="slides/slide9.xml"/><Relationship Id="rId13" Type="http://schemas.openxmlformats.org/officeDocument/2006/relationships/slide" Target="slides/slide8.xml"/><Relationship Id="rId14" Type="http://schemas.openxmlformats.org/officeDocument/2006/relationships/slide" Target="slides/slide7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CFF72-7758-4FD6-90FA-B4A3D2FF4C7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E83A7-F00A-4022-BEE2-DEEE742834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30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94513-241C-8F06-6A19-41DD933DF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E5ACE6-470C-895A-07B4-F692B68A3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AD6E4D-B200-A4FC-244F-2E4AECE7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B0CA84-4105-82B9-EB93-56BE7DEC5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A38C9D-5A50-F9B7-310A-AC7F04F03A03}"/>
              </a:ext>
            </a:extLst>
          </p:cNvPr>
          <p:cNvSpPr/>
          <p:nvPr userDrawn="1"/>
        </p:nvSpPr>
        <p:spPr>
          <a:xfrm>
            <a:off x="0" y="0"/>
            <a:ext cx="281354" cy="6858000"/>
          </a:xfrm>
          <a:prstGeom prst="rect">
            <a:avLst/>
          </a:prstGeom>
          <a:solidFill>
            <a:srgbClr val="8B10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213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9B735-C186-44D1-3084-20867EC3D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62" y="0"/>
            <a:ext cx="11957537" cy="890955"/>
          </a:xfrm>
        </p:spPr>
        <p:txBody>
          <a:bodyPr/>
          <a:lstStyle>
            <a:lvl1pPr>
              <a:defRPr>
                <a:latin typeface="Fjalla One" panose="02000506040000020004" pitchFamily="2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930771-633E-07B6-B2FC-DF8CCD7B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429A00-ED09-3B76-EC7C-E3CA9872D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4E4913-D5DC-D610-E2C6-E7F2CA30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8620" y="6670431"/>
            <a:ext cx="2375097" cy="187569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596FDB96-869F-4A08-8301-7D56D42013DF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59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4C3C27-1341-3F6F-9C98-F86367AE078E}"/>
              </a:ext>
            </a:extLst>
          </p:cNvPr>
          <p:cNvSpPr/>
          <p:nvPr userDrawn="1"/>
        </p:nvSpPr>
        <p:spPr>
          <a:xfrm>
            <a:off x="0" y="761992"/>
            <a:ext cx="12192000" cy="46892"/>
          </a:xfrm>
          <a:prstGeom prst="rect">
            <a:avLst/>
          </a:prstGeom>
          <a:solidFill>
            <a:srgbClr val="8B10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0FE567-3325-5CB1-0E0A-869E387421B5}"/>
              </a:ext>
            </a:extLst>
          </p:cNvPr>
          <p:cNvSpPr/>
          <p:nvPr userDrawn="1"/>
        </p:nvSpPr>
        <p:spPr>
          <a:xfrm>
            <a:off x="70332" y="0"/>
            <a:ext cx="45719" cy="6858000"/>
          </a:xfrm>
          <a:prstGeom prst="rect">
            <a:avLst/>
          </a:prstGeom>
          <a:solidFill>
            <a:srgbClr val="8B10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엠블럼, 문장, 상징, 배지이(가) 표시된 사진&#10;&#10;자동 생성된 설명">
            <a:extLst>
              <a:ext uri="{FF2B5EF4-FFF2-40B4-BE49-F238E27FC236}">
                <a16:creationId xmlns:a16="http://schemas.microsoft.com/office/drawing/2014/main" id="{C4AF58D5-D08C-B1F8-68BF-896D831663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323" y="59462"/>
            <a:ext cx="832345" cy="61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617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E0A26-6B54-D87C-CC71-4E06E055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E9567D-BFEA-81B0-95FA-E8004984A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15C9D2-B126-7CEF-6206-C837DF19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7E1F8C-8F67-68B7-0BA7-E20709A46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6685A4-5F19-4615-5459-B109ED183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FDB96-869F-4A08-8301-7D56D42013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94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건물, 하늘, 야외, 나무이(가) 표시된 사진&#10;&#10;자동 생성된 설명">
            <a:extLst>
              <a:ext uri="{FF2B5EF4-FFF2-40B4-BE49-F238E27FC236}">
                <a16:creationId xmlns:a16="http://schemas.microsoft.com/office/drawing/2014/main" id="{97171544-0AFA-3C1F-D7D0-BEECC75C8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9024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65C089A-B6CE-5ED9-91DE-6A10CFFF5094}"/>
              </a:ext>
            </a:extLst>
          </p:cNvPr>
          <p:cNvSpPr/>
          <p:nvPr userDrawn="1"/>
        </p:nvSpPr>
        <p:spPr>
          <a:xfrm>
            <a:off x="0" y="0"/>
            <a:ext cx="12192000" cy="6902450"/>
          </a:xfrm>
          <a:prstGeom prst="rect">
            <a:avLst/>
          </a:prstGeom>
          <a:solidFill>
            <a:srgbClr val="0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E418370-F367-44A0-E805-13DF5168D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888" y="3123335"/>
            <a:ext cx="7568223" cy="611329"/>
          </a:xfrm>
          <a:ln w="19050">
            <a:solidFill>
              <a:schemeClr val="bg1"/>
            </a:solidFill>
          </a:ln>
        </p:spPr>
        <p:txBody>
          <a:bodyPr>
            <a:noAutofit/>
          </a:bodyPr>
          <a:lstStyle>
            <a:lvl1pPr algn="ctr">
              <a:defRPr sz="40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54798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58697-71C8-A46D-30E2-AEBDC428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2F5FC2-F21A-CA05-9056-FDC22057D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3CBFAF-BE01-D9C4-BB1C-D304386D2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7101BE-02E9-056D-E8FC-4793D600F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484A05-7313-69A7-2227-4D9C1F79D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C4C758-BFF8-0676-7FFB-522C3915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88450D-D963-4BBA-C32E-089D7393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AF5D5E-5A81-2063-DBEC-C5A0A2FF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FDB96-869F-4A08-8301-7D56D42013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905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546D-83BB-DD66-A54D-041D41109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CA7820-88C2-E8B4-7CAA-732496D86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6CAC34-C4BC-56DC-77AE-0477B33E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091966-2B57-C8CB-0F23-26BE0641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FDB96-869F-4A08-8301-7D56D42013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86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26BD76-16E9-CE4C-84A2-DE334002F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1322A4-0546-19B3-F352-BF80D286E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D9070E-93F5-B092-D318-2293DC47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FDB96-869F-4A08-8301-7D56D42013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107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C6894-C7F7-CF9A-588D-6B6F8840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61106C-A0EE-C89F-5134-118EEC82C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94D0CD-668C-6E58-40A1-40249AD7E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F1C796-4955-938D-30F6-6970640E9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5FA77-B592-1DB7-0505-25E32176D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21BA77-4272-CBDD-CC09-1D7B6283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FDB96-869F-4A08-8301-7D56D42013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10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F259-4371-032B-0F56-CC1663D7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4B1589-6050-BE41-6EC5-87A734555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9CFA35-BE86-CF38-AE67-58F4D9DDB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B674B4-05F0-F675-DA2A-05ABE652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0487BE-A55E-A3F7-D2C3-C592AEDA5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906363-968B-543E-1539-8E5A297F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FDB96-869F-4A08-8301-7D56D42013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227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CCDF0-AA5C-AAF2-F012-E482D6B0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31A63-E9CD-8992-E9DC-D8D32374B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719B0-FDE2-B7BC-0C9E-AA01C7E7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AFF61E-59FC-4C4C-7290-ECC47EE0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18C973-6674-4E03-5193-D312A158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FDB96-869F-4A08-8301-7D56D42013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60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9F9B16-9107-B15F-5671-6E489B39E7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E62C36-CEE1-8591-347C-4CDE92439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A79AE-A375-14DD-8B7C-315B5A04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A7878E-2066-7C83-9A90-FD692649C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936286-6646-B44D-E3DC-99AA334E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FDB96-869F-4A08-8301-7D56D42013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460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F4453A-F941-68A9-5BC3-FFCFBD812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103B1A-010C-39B1-9293-58EDD257F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568FDC-6B31-3338-051F-9B8B5600A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9E39-0890-0FAA-EE8B-A2313555F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73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/>
              <a:t>Contribution-Calibrated Dynamic Expert Skipping</a:t>
            </a:r>
          </a:p>
          <a:p>
            <a:r>
              <a:t>for Bandwidth-Bound MoE Decoding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router score가 아니라 calibrated 기여도로 expert를 고른다 — training-free, router 보존, CPU 재현</a:t>
            </a:r>
          </a:p>
          <a:p>
            <a:r>
              <a:t>경희대학교 빅데이터응용학과 이학전공 박사과정 장하렴</a:t>
            </a:r>
          </a:p>
          <a:p>
            <a:r>
              <a:t>경희대학교 빅데이터응용학과&amp;경영학과 교수 양성병</a:t>
            </a:r>
          </a:p>
          <a:p>
            <a:r>
              <a:t>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• 서론 — MoE 디코드는 대역폭 제한: 실행하지 않은 expert = 읽지 않은 바이트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• 이론적 배경 — 2023–2026 계보 세 갈래, training-free 스킵 규칙의 약점 W1–W4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• 연구 설계 — 메커니즘 · 스트리밍 엔진 · matched-k′ 프로토콜 · 사전 등록 gate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• 연구 결과 — OLMoE 확정(CI) · 대역폭 1.80× · tail · oracle · Qwen3 null과 그 원인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• 기여점 · 한계 · 향후 연구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•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서론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Research Background &amp;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MoE 추론의 병목은 연산이 아니라 메모리 대역폭이다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</a:rPr>
              <a:t>• fine-grained MoE(OLMoE 64/8, Qwen3-30B 128/8)는 토큰마다 8개 expert의 가중치 3개 행렬을 읽는다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</a:rPr>
              <a:t>• batch-1 디코드에서는 이 읽기가 지배적: OLMoE fp32 기준 token당 2.1 GB, Qwen3 0.86 GB (측정, F16)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</a:rPr>
              <a:t>• 동적 expert 스킵 = 라우팅된 8개 중 일부만 실행 → 스킵한 expert의 바이트를 그대로 절약 (선형, 측정)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</a:rPr>
              <a:t>• 기존 training-free 스킵 규칙은 전부 router score 하나로 결정한다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</a:rPr>
              <a:t>– 질문: router score는 'expert가 얼마나 기여하는가'를 알고 있는가?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</a:rPr>
              <a:t>– 답(측정): 거의 모른다 — r = +0.17 (OLMoE), −0.05 (Qwen3)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연구 목표와 제약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</a:rPr>
              <a:t>• 목표: 학습 없이, router와 expert identity를 보존한 채, 적은 품질 손실로 expert 로드를 줄인다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</a:rPr>
              <a:t>• 제약 1 — training-free: calibration 1회(forward만), 역전파·distillation 없음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</a:rPr>
              <a:t>• 제약 2 — 재현: CPU만으로 전 파이프라인 실행, 모델 revision·데이터 선택·seed·환경 고정 (results/ENV.md)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</a:rPr>
              <a:t>• 제약 3 — 정직한 비교: 모든 규칙을 같은 평균 k′에서, 같은 코드 경로로, paired bootstrap CI와 함께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</a:rPr>
              <a:t>• 제약 4 — 사전 등록 gate: 폐기 조건 G1–G4를 실험 전에 기록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이론적 배경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Literature 2023 → 2026 (24 papers, all verified against arXiv)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계보: 세 갈래는 서로 거의 만나지 않는다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4937760"/>
                <a:gridCol w="228600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갈래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대표 (연도)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라우팅을 바꾸는가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어디서 가져올까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오프로딩·캐싱·프리페치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Mixtral-offload '23, MoE-Infinity '24, ExpertFlow '24, Fate '25, Speculating Experts '26, SpecPrefetch '26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아니오 — 예측해서 지연을 숨김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몇 개를 쓸까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동적 스킵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Lu et al. ACL'24 (k=2), LExI '25 (정적 층별 k), 2512.21911 (k&gt;2, 중앙값), ZEDA '26 (학습)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예 — 로드 자체를 줄임 (대역폭에 비례)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누구와 나눌까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batch-aware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Opportunistic '25, SERE ICLR'26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예 — batch ≥ 16 전제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대역폭에 비례하는 이득은 두 번째 갈래뿐. 그 training-free 계열은 얇고(4편) 전부 score 전용.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training-free 스킵 규칙의 약점 W1–W4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• W1  router score는 dispatch 신호이지 contribution 신호가 아니다 — load-balancing 손실 아래 학습되어 균등하게 밀림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• W2  임계값이 품질이 아니라 분위수에 맞춰짐 — 2512.21911: β_m = 중앙값 → 각 m에서 50% 고정 스킵률, 품질 제어 없음 (m=4에서 수학 붕괴)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• W3  평가 무대가 이득이 나는 무대가 아니다 — speculative verification 안, batch ≥ 16 GPU; batch-1 대역폭 제한 디코드 측정 없음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• W4  tail 미보고 — MoEXBench('26): 평균이 domain 붕괴를 숨긴다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• 가장 좋은 수치(ZEDA '26: expert 연산 50%↓, 1.2×)는 self-distillation 학습이 필요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설계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Mechanism · Engine · Protocol · Gates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메커니즘: score × calibrated output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• calibration 1회: 층 l, expert e에 대해  s[l,e] = E‖E_e(x)‖  (토큰이 e로 라우팅될 때) — 층당 E개 float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• 추론: top-8 후보를  c_e = w_e · s[l,e]  로 정렬, 누적 기여 비율 ≥ 1 − τ_l 인 최소 접두사만 실행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• τ_l: 층별 이분탐색(40회)으로 calibration 토큰에서 평균 실행 수 = 목표 k′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• 공정 대조군 score-only = 같은 코드, s ≡ 1  →  차이는 순전히 정렬 신호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• baseline: 정적 top-k′ / 발표된 중앙값 규칙(2512.21911) / oracle(진짜 per-token ‖E_e(x)‖, 배포 불가 진단)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• 학습 없음 · router 보존 · expert identity 보존 · 저장량 E floats/층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스트리밍 CPU 엔진과 실험 프로토콜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78408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엔진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layer-streaming, safetensors mmap에서 층 단위 읽기, fp32; 참조(bf16 HF) 대비 top-1 일치 100 % (OLMoE NLL 3.207 vs 3.212; Qwen3 3.508 vs 3.503)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OLMoE-1B-7B @6d84c48 (norm_topk_prob=False) · Qwen3-30B-A3B @ad44e77 (norm_topk_prob=True)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WikiText-2 train 첫 2,048 (OLMoE) / 4,096 (Qwen3) token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WikiText-2 test 첫 N token, 512-token 시퀀스; GSM8K·HumanEval 1,024 token (tail)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시퀀스 단위 paired bootstrap, B=5000, seed 0, 95 % 구간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디코드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batch 1, KV 캐시, prefill 32 + 64 step; 바이트 = 엔진이 읽은 fp32 바이트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자원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CPU 11 threads, GPU 없음, 엔진 상주 3.7–4.5 GB; 전 파이프라인 scripts/reproduce.sh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사전 등록 gate와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943600"/>
                <a:gridCol w="457200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폐기 조건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층 내 s의 CV &lt; 0.15 (스케일이 균일 → 신호 없음)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OLMoE 0.255, Qwen3 0.341 — 통과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matched k′에서 contribution ≤ score-only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OLMoE 통과 (CI가 0 제외) · Qwen3 실패 (동률)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bytes/token 절감이 tok/s로 안 이어짐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통과 (1.80×)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G4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worst-domain 저하 &gt; 평균의 3배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통과 (tail/mean ≤ 1.10)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결과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OLMoE confirmed with CIs · bandwidth · tail · oracle · Qwen3 null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결과 1 — OLMoE-1B-7B, matched k′, 8,192 token (F20)</a:t>
            </a:r>
          </a:p>
        </p:txBody>
      </p:sp>
      <p:pic>
        <p:nvPicPr>
          <p:cNvPr id="3" name="Picture 2" descr="fig1_ppl_vs_k_olm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245531" cy="475488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66560" y="128016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k′≈5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k′≈4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정적 top-k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+11.3 %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+27.7 %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score-only (공정)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+13.8 %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+33.4 %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1"/>
                        <a:t>contribution (ours)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+10.4 %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+24.0 %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중앙값 규칙 (발표)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+309 % (k′ 3.2)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310896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paired bootstrap (16 seq):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595959"/>
                </a:solidFill>
              </a:rPr>
              <a:t>– contribution vs score-only  −3.0 % [−4.0, −2.0]  ·  −7.0 % [−8.8, −5.3]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595959"/>
                </a:solidFill>
              </a:rPr>
              <a:t>– contribution vs static  −0.8 % n.s.  ·  −2.9 % [−4.9, −1.1]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score-only 동적 규칙은 정적 절단보다 나쁘다 — 이득 전부가 calibrated scale에서 나온다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결과 2 — batch-1 디코드: 바이트는 k′에 선형, 속도 1.80× (F16)</a:t>
            </a:r>
          </a:p>
        </p:txBody>
      </p:sp>
      <p:pic>
        <p:nvPicPr>
          <p:cNvPr id="3" name="Picture 2" descr="fig3_decode_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2801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</a:rPr>
              <a:t>• token당 바이트 = 16층 × k′ × 3행렬 × 2048×1024 fp32 (+ attention)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595959"/>
                </a:solidFill>
              </a:rPr>
              <a:t>– expert 하나 스킵 = 16.8 MB/token, 정확히 선형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</a:rPr>
              <a:t>• KV 캐시 경로: uncached logits와 오차 0.000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</a:rPr>
              <a:t>• contribution@5: 1521 MB/tok, 3.35 tok/s = 1.80× (top-8 1.86 tok/s)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</a:rPr>
              <a:t>• 이 표의 63-token ppl 열은 품질 측정이 아님 — 품질은 결과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결과 3 — 왜 score로는 안 되는가 (F14, F18)</a:t>
            </a:r>
          </a:p>
        </p:txBody>
      </p:sp>
      <p:pic>
        <p:nvPicPr>
          <p:cNvPr id="3" name="Picture 2" descr="fig2_score_vs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498079" cy="283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2801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층 내 출력 스케일 CV: 0.255 (OLMoE), 0.341 (Qwen3)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r(s_e, gate weight): +0.17 / −0.05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595959"/>
                </a:solidFill>
              </a:rPr>
              <a:t>– Qwen3는 48층 중 15층에서 음(−0.35까지)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두 base 모델 모두 top-8 내 라우팅이 평탄 (head/tail ≈ 3×)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score만으로 정렬하면 '잡음'(OLMoE) 또는 '역방향'(Qwen3)으로 정렬한다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결과 4 — tail: 수학·코드가 텍스트보다 덜 저하 (F19)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2103120"/>
                <a:gridCol w="2103120"/>
                <a:gridCol w="219456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wikitext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gsm8k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tail / wikitext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score-only 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+8.4 %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+6.4 %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+6.9 %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1"/>
                        <a:t>contribution @5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+5.4 %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+5.3 %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+6.0 %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1.10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score-only @4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+24.8 %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+16.1 %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+13.5 %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1"/>
                        <a:t>contribution @4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+15.9 %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+12.5 %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+11.3 %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1.00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10642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G4 통과: worst-domain / mean ≤ 1.10 — MoEXBench가 경고한 평균 뒤의 붕괴 없음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모든 셀에서 contribution 승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wikitext 열은 새 1,024-token slice — F20 결과의 독립 재현 (−2.8 %, −7.1 %)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결과 5 — oracle: proxy가 한계인가, 신호가 한계인가 (F24)</a:t>
            </a:r>
          </a:p>
        </p:txBody>
      </p:sp>
      <p:pic>
        <p:nvPicPr>
          <p:cNvPr id="3" name="Picture 2" descr="fig4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589520" cy="32143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2801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oracle = 모든 expert를 계산하고 진짜 w_e‖E_e(x)‖로 선택 (배포 불가, 상한)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OLMoE: oracle vs proxy +0.1 % [−1.1, +1.4] — 64-float 캘리브레이션이 달성 가능한 이득 전부를 회수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Qwen3: oracle vs score-only +5.1 % [+1.7, +9.9] — 신호 자체가 실패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→ 두 체제를 가르는 변수: router의 top-k renormalisation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결과 6 — Qwen3-30B-A3B: 특성화된 null (F21, F22)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54864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policy (k′=5, 4,096 token)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Δ ppl vs top-8 11.879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정적 top-5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+6.4 %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score-only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+9.0 %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+9.3 %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contribution_renorm (오차모델)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+10.5 %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중앙값 규칙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×15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21792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contribution vs score-only: +0.4 % [−1.7, +2.3] — 동률 (1,024-token 캘리브레이션에서는 +5.3 % 손실 → 4배로 해소: calibration starvation)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budget hogging 기각(층별 k′ 4.9–5.2 평탄) · renorm 오차모델 오히려 악화 · oracle도 실패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해석: norm_topk_prob=True → expert 하나를 빼면 생존자 전부가 W_all/W_P로 재조정. 출력 변화는 방향에 의존하고, expert 출력은 근사 직교일 뿐(whitened NN cos 0.40)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OLMoE(renorm 없음)에서는 제거 = 뺄셈 → norm이 충분한 proxy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반사실 F25 (renorm off): −40 % — 그러나 모델이 ppl 42.9(4×)로 손상된 상태의 아티팩트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**F25b (full-mass renorm; top-8 동일 11.879, 제거 = 뺄셈): +0.8 % [−0.9, +2.7] 동률, static이 여전히 우세 → renorm 가설 기각**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</a:rPr>
              <a:t>• 가설 4개 중 3개 측정으로 기각, 1개(calibration 부족)는 F21 손실의 원인으로 확인 — null은 실재하고 기제는 미해명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결과 7 — 층별 예산 배분 (F27, OLMoE)</a:t>
            </a:r>
          </a:p>
        </p:txBody>
      </p:sp>
      <p:pic>
        <p:nvPicPr>
          <p:cNvPr id="3" name="Picture 2" descr="fig5_layer_bud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680960" cy="27651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28016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calibration 곡선에서 층별 expert 수 k_l을 탐욕 배분 (학습 없음)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static에는 크게 도움: layer_topk vs uniform static −2.8 % [−4.2, −1.6] (k′≈4)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contribution 위에는 소폭: −0.1 % / −0.6 % (n.s.) — 곡선이 층 간 거의 동일해 옮길 예산이 적음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조합이 최선: uniform static 대비 −0.9 % [−1.6, −0.1] (k′≈5), −3.5 % [−5.5, −1.6] (k′≈4)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정렬 이득은 예산 통제 후에도 유지: score-only+budget 대비 −2.4 %, −4.2 %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Qwen3 예산도 사전 계산 결과 거의 평탄(std 0.29): 출력 *스케일*의 이질성이 기여 *share* 곡선의 이질성으로 이어지지 않음 → Qwen3에서도 예산 배분은 소폭일 것으로 사전 등록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결과 8 — 층별 예산 배분 (Qwen3) 와 신호 선택 (F27, F30)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Qwen3 예산 배분: layer_topk(static) vs uniform static −0.1 % [−2.3, +1.9] — 사전 등록대로 중립. static의 우위는 예산 문제가 아님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contribution+budget은 contribution보다 **+2.6 % [+1.4, +4.0] 악화** — w·s 곡선으로 예산을 배분했기 때문. Qwen3에서 scale은 무정보가 아니라 *틀린* 신호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→ 어느 신호를 믿을지는 모델 성질. calibration 토큰에서 층별로 두 규칙의 출력 오차를 직접 재서 선택 (F30)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OLMoE: 16/16 층이 contribution 선택 (예: L00 0.142 vs 0.150) — perplexity 없이 F20의 판정을 재현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Qwen3: **42/48 층이 score 선택** (87.5 %, 사전 등록 ≥75 % 충족) → mixed ≈ score-only (+0.4 % n.s.)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OLMoE: mixed ≡ contribution (−3.0 %/−7.0 % vs score-only, −2.9 % vs static @k′≈4)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</a:rPr>
              <a:t>• 남는 사실: Qwen3에서는 모든 동적 규칙이 static top-5에 짐 (+2.9 % [+0.7, +5.0]) — 층별 오차가 거의 동률인 곳에서는 토큰별 k 변동이 손해 → F31(동적 vs 정적 선택)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결과 9 — 정확도 (F28): perplexity 이득이 정확도로 보이지 않는다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737360"/>
                <a:gridCol w="2011680"/>
                <a:gridCol w="2377440"/>
                <a:gridCol w="182880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k′=5 (38 % 절감), n=200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top-8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score-only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contribution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contrib+budget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ARC-Easy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75.0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73.0 (−2.0)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75.0 (0.0)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70.5 (−4.5 [−8.0,−1.5])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73.0 (−2.0)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ARC-Challenge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45.0 (−3.0)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43.5 (−4.5 [−8.5,−0.5])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44.5 (−3.5)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44.0 (−4.0)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OpenBookQA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33.5 (−2.5)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34.0 (−2.0)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35.5 (−0.5)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35.0 (−1.0)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/>
                        <a:t>HellaSwag (첫 실행, 비표준 전처리·raw 채점 — 제외, 재실행 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—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1"/>
                        <a:t>mean Δ (ARC-E/ARC-C/OBQA)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—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−2.5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−2.2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−2.8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−2.3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383280"/>
            <a:ext cx="1106424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</a:rPr>
              <a:t>• k′=6 (25 % 절감)도 같은 그림: 모든 규칙 평균 ≈ −1 pt, 규칙 간 구분 불가(CI ±3–4 pt), contribution만 ARC-Challenge에서 −4.5 [−8.0, −1.5]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</a:rPr>
              <a:t>• perplexity의 3–7 % 차이는 n=200 정확도가 분해할 수 있는 크기 아래 — 유일하게 유의한 두 비교는 contribution에 **불리**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</a:rPr>
              <a:t>• n=1,000 (top-8 / best / static / score-only, k′=6) 실행 중 — 논문의 첫 문장은 이 결과에 걸려 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결과 10 — 저손실 경계와 세 번째 모델 (F32, F29)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</a:rPr>
              <a:t>• OLMoE perplexity 경계 (최선 규칙): **+0.6 % @12.8 %** · **+3.3 % @25 %** · +10.3 % @38 % · +23 % @50 % 로드 절감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595959"/>
                </a:solidFill>
              </a:rPr>
              <a:t>– 25 %: contribution+budget이 static 대비 −1.0 % [−1.7, −0.3], score-only 대비 −1.6 %  ·  12.5 %: contribution 단독 최선, 예산은 오히려 해(+0.8 %)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</a:rPr>
              <a:t>• Qwen1.5-MoE-A2.7B (top-4/60 + 상시 shared expert): **+1.1 % @25 %**, +1.6 % @37.5 % routed 절감 — 세 모델 중 최저 손실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595959"/>
                </a:solidFill>
              </a:rPr>
              <a:t>– 이유: shared expert가 각 층 기능의 큰 부분을 항상 수행 → routed expert 하나하나의 부담이 작음. 단 shared expert 바이트는 항상 읽힘 → routed 37.5 % ≈ MoE 바이트 ~19 %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595959"/>
                </a:solidFill>
              </a:rPr>
              <a:t>– r(s, gate) = +0.45 (OLMoE +0.17, Qwen3 −0.05): router가 이미 크기를 담고 있어 contribution 신호는 불필요(동률), 층별 예산이 지배 (layer-static −3.5 % [−4.7, −2.4] vs static)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</a:rPr>
              <a:t>• 손실 최소화 관점의 결론: 25 % 절감에서 ppl +1–3 %, 정확도 ≈ −1 pt(±3) — 어느 규칙이든. 규칙 간 차이는 ppl에서만 확정, 정확도에서는 미확정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연구의 기여점 및 향후 연구 방향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기여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측정: router score는 expert 출력 크기를 담지 않는다 — 두 fine-grained MoE에서 r ≈ 0, Qwen3는 층의 1/3에서 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방법: 층당 E floats의 calibrated scale로 정렬 — 학습 없음, router 보존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결과(OLMoE, ppl): score-only 대비 −3.0 % / −7.0 % (CI 0 제외), 정적 top-k 대비 −1.0 % @25 %·−2.9 % @50 %, oracle과 동률, 디코드 1.80×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**정확도(n=200): 모든 규칙 ≈ −1 pt, 규칙 간 구분 불가; 유의한 두 비교는 contribution에 불리** — ppl 이득은 아직 정확도로 입증되지 않음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경계: Qwen3에서는 어떤 norm 기반 규칙도(proxy·oracle·renorm 중립화) score를 못 이김 — 경계는 측정됨, 기제는 미해명 (가설 3개 기각)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부정 결과 명시: 발표된 중앙값 규칙은 두 모델 모두 붕괴; 제가 유도한 원리적 변형 둘은 휴리스틱보다 열등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재현: CPU 전용, 모델 revision·데이터·seed·환경 고정, results/에 원자료, reproduce.sh 한 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한계와 향후 연구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절대 비용: 로드 38 % 절감에 ppl +10 % — ZEDA(학습)의 50 % 거의 무손실과 격차 존재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positive 모델 1개 + null 모델 1개; 일반성은 'router 유형' 주장이며 반사실(F25) 대기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perplexity만 — GPU 없이는 다운스트림 정확도 불가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batch-1 fp32 CPU 무대 — GPU 배치 서빙에서는 bytes→latency가 sublinear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</a:rPr>
              <a:t>• 향후: (1) 방향/중복을 보는 skip 기준 — Qwen3류에서 score가 norm을 이기는 이유의 후보  (2) instruct/추론 모델의 'certain head' 프로파일에서 재측정  (3) GPU 다운스트림 평가  (4) 세 번째 모델(DeepSeek-V2-Lite)로 경계 확인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Lu, X. et al. (2024). Not All Experts are Equal: Efficient Expert Pruning and Skipping for MoE LLMs. ACL 2024.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Chitty-Venkata, K. T. et al. (2025). LExI: Layer-Adaptive Active Experts for Efficient MoE Inference. arXiv:2509.02753.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Oncescu, C.-A. et al. (2025). Opportunistic Expert Activation: Batch-Aware Expert Routing for Faster Decode Without Retraining. arXiv:2511.02237.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(2025). Accelerate Speculative Decoding with Sparse Computation in Verification. arXiv:2512.21911.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Chen, Y. et al. (2026). Certain Head, Uncertain Tail: Expert-Sample for Test-Time Scaling in Fine-Grained MoE. arXiv:2602.02443.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Lv, X. et al. (2026). Post-Trained MoE Can Skip Half Experts via Self-Distillation (ZEDA). arXiv:2605.18643.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Wu, J. et al. (2026). SERE: Similarity-based Expert Re-routing for Efficient Batch Decoding in MoE Models. ICLR 2026. arXiv:2602.07616.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Zhong, S. et al. (2024). AdapMoE: Adaptive Sensitivity-based Expert Gating and Management. arXiv:2408.10284.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Madan, V. et al. (2026). Speculating Experts Accelerates Inference for Mixture-of-Experts. arXiv:2603.19289.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Kong, J. et al. (2026). SpecPrefetch: Parameter-Efficient Expert Prefetching for Sparse MoE. arXiv:2607.24787.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Benazir, A. et al. (2026). Benchmarking Composable Compression Techniques in MoE LLMs (MoEXBench). arXiv:2608.21693.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Liu, J. et al. (2024). A Survey on Inference Optimization Techniques for Mixture of Experts Models. arXiv:2412.14219.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</a:rPr>
              <a:t>• Muennighoff, N. et al. (2024). OLMoE: Open Mixture-of-Experts Language Models. arXiv:2409.02060.  ·  Qwen Team (2025). Qwen3 Technical Report. arXiv:2505.09388.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44100</TotalTime>
  <Words>455</Words>
  <Application>Microsoft Office PowerPoint</Application>
  <PresentationFormat>와이드스크린</PresentationFormat>
  <Paragraphs>166</Paragraphs>
  <Slides>19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Arial</vt:lpstr>
      <vt:lpstr>Times New Roman</vt:lpstr>
      <vt:lpstr>나눔스퀘어 Bold</vt:lpstr>
      <vt:lpstr>나눔스퀘어 ExtraBold</vt:lpstr>
      <vt:lpstr>나눔스퀘어</vt:lpstr>
      <vt:lpstr>Fjalla One</vt:lpstr>
      <vt:lpstr>Barlow Semi Condensed Medium</vt:lpstr>
      <vt:lpstr>맑은 고딕</vt:lpstr>
      <vt:lpstr>Office 테마</vt:lpstr>
      <vt:lpstr>PowerPoint 프레젠테이션</vt:lpstr>
      <vt:lpstr>PowerPoint 프레젠테이션</vt:lpstr>
      <vt:lpstr>서론</vt:lpstr>
      <vt:lpstr>slide-title</vt:lpstr>
      <vt:lpstr>slide-title</vt:lpstr>
      <vt:lpstr>이론적 배경</vt:lpstr>
      <vt:lpstr>slide-title</vt:lpstr>
      <vt:lpstr>slide-title</vt:lpstr>
      <vt:lpstr>연구 설계</vt:lpstr>
      <vt:lpstr>slide-title</vt:lpstr>
      <vt:lpstr>slide-title</vt:lpstr>
      <vt:lpstr>연구 결과</vt:lpstr>
      <vt:lpstr>slide-title</vt:lpstr>
      <vt:lpstr>slide-title</vt:lpstr>
      <vt:lpstr>연구의 기여점 및 향후 연구 방향</vt:lpstr>
      <vt:lpstr>slide-title</vt:lpstr>
      <vt:lpstr>slide-title</vt:lpstr>
      <vt:lpstr>감사합니다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장하렴</dc:creator>
  <cp:lastModifiedBy>장하렴</cp:lastModifiedBy>
  <cp:revision>885</cp:revision>
  <cp:lastPrinted>2024-04-01T06:53:32Z</cp:lastPrinted>
  <dcterms:created xsi:type="dcterms:W3CDTF">2024-01-07T12:52:19Z</dcterms:created>
  <dcterms:modified xsi:type="dcterms:W3CDTF">2026-09-02T09:04:56Z</dcterms:modified>
</cp:coreProperties>
</file>